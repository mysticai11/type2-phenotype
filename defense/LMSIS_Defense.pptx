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005" y="1920240"/>
            <a:ext cx="9994942" cy="25400"/>
          </a:xfrm>
          <a:prstGeom prst="rect">
            <a:avLst/>
          </a:prstGeom>
          <a:solidFill>
            <a:srgbClr val="00C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005" y="914400"/>
            <a:ext cx="999494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EEF2FF"/>
                </a:solidFill>
                <a:latin typeface="Inter"/>
              </a:rPr>
              <a:t>Predictive Risk Intelligence for Metabolic Screening in Diabetes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005" y="2148840"/>
            <a:ext cx="9994942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0">
                <a:solidFill>
                  <a:srgbClr val="00C47D"/>
                </a:solidFill>
                <a:latin typeface="Inter"/>
              </a:rPr>
              <a:t>LMSIS — Latent Metabolic State Inference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005" y="2788920"/>
            <a:ext cx="2498735" cy="38100"/>
          </a:xfrm>
          <a:prstGeom prst="rect">
            <a:avLst/>
          </a:prstGeom>
          <a:solidFill>
            <a:srgbClr val="00C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595740" y="2788920"/>
            <a:ext cx="2498735" cy="381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4476" y="2788920"/>
            <a:ext cx="2498735" cy="38100"/>
          </a:xfrm>
          <a:prstGeom prst="rect">
            <a:avLst/>
          </a:prstGeom>
          <a:solidFill>
            <a:srgbClr val="3D8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93211" y="2788920"/>
            <a:ext cx="2498735" cy="38100"/>
          </a:xfrm>
          <a:prstGeom prst="rect">
            <a:avLst/>
          </a:prstGeom>
          <a:solidFill>
            <a:srgbClr val="E8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6685" y="4114800"/>
            <a:ext cx="48755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i="1">
                <a:solidFill>
                  <a:srgbClr val="4A6380"/>
                </a:solidFill>
                <a:latin typeface="Inter"/>
              </a:rPr>
              <a:t>[Presenter Name]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6685" y="4754880"/>
            <a:ext cx="48755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i="1">
                <a:solidFill>
                  <a:srgbClr val="4A6380"/>
                </a:solidFill>
                <a:latin typeface="Inter"/>
              </a:rPr>
              <a:t>[Date]</a:t>
            </a:r>
          </a:p>
        </p:txBody>
      </p:sp>
      <p:sp>
        <p:nvSpPr>
          <p:cNvPr id="11" name="Oval 10"/>
          <p:cNvSpPr/>
          <p:nvPr/>
        </p:nvSpPr>
        <p:spPr>
          <a:xfrm>
            <a:off x="832104" y="6044184"/>
            <a:ext cx="347472" cy="347472"/>
          </a:xfrm>
          <a:prstGeom prst="ellipse">
            <a:avLst/>
          </a:prstGeom>
          <a:solidFill>
            <a:srgbClr val="00C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 rot="33929200">
            <a:off x="929397" y="6304788"/>
            <a:ext cx="152887" cy="191109"/>
          </a:xfrm>
          <a:prstGeom prst="roundRect">
            <a:avLst/>
          </a:prstGeom>
          <a:solidFill>
            <a:srgbClr val="00C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1672" y="653796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A6380"/>
                </a:solidFill>
                <a:latin typeface="Inter"/>
              </a:rPr>
              <a:t>2 /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005" y="2103120"/>
            <a:ext cx="9994942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0">
                <a:solidFill>
                  <a:srgbClr val="EEF2FF"/>
                </a:solidFill>
                <a:latin typeface="Inter"/>
              </a:rPr>
              <a:t>Normal BMI. Normal cholesterol. No symptoms.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005" y="3108960"/>
            <a:ext cx="9994942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0">
                <a:solidFill>
                  <a:srgbClr val="4A6380"/>
                </a:solidFill>
                <a:latin typeface="Inter"/>
              </a:rPr>
              <a:t>Their doctor sent them home.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005" y="4114800"/>
            <a:ext cx="9994942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800" b="1">
                <a:solidFill>
                  <a:srgbClr val="E8394A"/>
                </a:solidFill>
                <a:latin typeface="Inter"/>
              </a:rPr>
              <a:t>They had severe liver disease.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1672" y="653796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A6380"/>
                </a:solidFill>
                <a:latin typeface="Inter"/>
              </a:rPr>
              <a:t>3 /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005" y="658203"/>
            <a:ext cx="999494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800" b="1">
                <a:solidFill>
                  <a:srgbClr val="EEF2FF"/>
                </a:solidFill>
                <a:latin typeface="Inter"/>
              </a:rPr>
              <a:t>Why BMI Misses This</a:t>
            </a:r>
          </a:p>
        </p:txBody>
      </p:sp>
      <p:sp>
        <p:nvSpPr>
          <p:cNvPr id="4" name="Rectangle 3"/>
          <p:cNvSpPr/>
          <p:nvPr/>
        </p:nvSpPr>
        <p:spPr>
          <a:xfrm>
            <a:off x="3762756" y="1463040"/>
            <a:ext cx="1645920" cy="2926080"/>
          </a:xfrm>
          <a:prstGeom prst="rect">
            <a:avLst/>
          </a:prstGeom>
          <a:solidFill>
            <a:srgbClr val="0A101C"/>
          </a:solidFill>
          <a:ln w="31750">
            <a:solidFill>
              <a:srgbClr val="1C2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334256" y="1627632"/>
            <a:ext cx="502920" cy="502920"/>
          </a:xfrm>
          <a:prstGeom prst="ellipse">
            <a:avLst/>
          </a:prstGeom>
          <a:solidFill>
            <a:srgbClr val="1C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762756" y="448056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C47D"/>
                </a:solidFill>
                <a:latin typeface="JetBrains Mono"/>
              </a:rPr>
              <a:t>BMI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62756" y="482803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0C47D"/>
                </a:solidFill>
                <a:latin typeface="Inter"/>
              </a:rPr>
              <a:t>No hidden risk</a:t>
            </a:r>
          </a:p>
        </p:txBody>
      </p:sp>
      <p:sp>
        <p:nvSpPr>
          <p:cNvPr id="8" name="Rectangle 7"/>
          <p:cNvSpPr/>
          <p:nvPr/>
        </p:nvSpPr>
        <p:spPr>
          <a:xfrm>
            <a:off x="6780276" y="1463040"/>
            <a:ext cx="1645920" cy="2926080"/>
          </a:xfrm>
          <a:prstGeom prst="rect">
            <a:avLst/>
          </a:prstGeom>
          <a:solidFill>
            <a:srgbClr val="0A101C"/>
          </a:solidFill>
          <a:ln w="31750">
            <a:solidFill>
              <a:srgbClr val="1C2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51776" y="1627632"/>
            <a:ext cx="502920" cy="502920"/>
          </a:xfrm>
          <a:prstGeom prst="ellipse">
            <a:avLst/>
          </a:prstGeom>
          <a:solidFill>
            <a:srgbClr val="1C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100316" y="2743200"/>
            <a:ext cx="1005840" cy="59436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D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43116" y="33832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5A623"/>
                </a:solidFill>
                <a:latin typeface="Inter"/>
              </a:rPr>
              <a:t>Visceral fat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80276" y="448056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A623"/>
                </a:solidFill>
                <a:latin typeface="JetBrains Mono"/>
              </a:rPr>
              <a:t>BMI 22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0276" y="482803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E8394A"/>
                </a:solidFill>
                <a:latin typeface="Inter"/>
              </a:rPr>
              <a:t>Hidden risk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005" y="5258075"/>
            <a:ext cx="999494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4A6380"/>
                </a:solidFill>
                <a:latin typeface="Inter"/>
              </a:rPr>
              <a:t>BMI measures weight. It can’t see where fat is hiding.</a:t>
            </a:r>
          </a:p>
        </p:txBody>
      </p:sp>
      <p:sp>
        <p:nvSpPr>
          <p:cNvPr id="15" name="Oval 14"/>
          <p:cNvSpPr/>
          <p:nvPr/>
        </p:nvSpPr>
        <p:spPr>
          <a:xfrm>
            <a:off x="11036808" y="6117336"/>
            <a:ext cx="292608" cy="29260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 rot="33929200">
            <a:off x="11118739" y="6336792"/>
            <a:ext cx="128747" cy="160934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1672" y="653796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A6380"/>
                </a:solidFill>
                <a:latin typeface="Inter"/>
              </a:rPr>
              <a:t>4 /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005" y="658203"/>
            <a:ext cx="999494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800" b="1">
                <a:solidFill>
                  <a:srgbClr val="EEF2FF"/>
                </a:solidFill>
                <a:latin typeface="Inter"/>
              </a:rPr>
              <a:t>The Hidden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005" y="1417320"/>
            <a:ext cx="4860311" cy="1828800"/>
          </a:xfrm>
          <a:prstGeom prst="rect">
            <a:avLst/>
          </a:prstGeom>
          <a:solidFill>
            <a:srgbClr val="0C111E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79885" y="15544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5A623"/>
                </a:solidFill>
                <a:latin typeface="Inter"/>
              </a:rPr>
              <a:t>~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445" y="2103120"/>
            <a:ext cx="4677431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>
                <a:solidFill>
                  <a:srgbClr val="EEF2FF"/>
                </a:solidFill>
                <a:latin typeface="Inter"/>
              </a:rPr>
              <a:t>Standard scores lose accuracy
at normal weight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31636" y="1417320"/>
            <a:ext cx="4860311" cy="1828800"/>
          </a:xfrm>
          <a:prstGeom prst="rect">
            <a:avLst/>
          </a:prstGeom>
          <a:solidFill>
            <a:srgbClr val="0C111E"/>
          </a:solidFill>
          <a:ln w="19050">
            <a:solidFill>
              <a:srgbClr val="E83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4516" y="15544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8394A"/>
                </a:solidFill>
                <a:latin typeface="Inter"/>
              </a:rPr>
              <a:t>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3076" y="2103120"/>
            <a:ext cx="4677431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>
                <a:solidFill>
                  <a:srgbClr val="EEF2FF"/>
                </a:solidFill>
                <a:latin typeface="Inter"/>
              </a:rPr>
              <a:t>One major score gets it
backwards entirely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005" y="3474720"/>
            <a:ext cx="4860311" cy="1828800"/>
          </a:xfrm>
          <a:prstGeom prst="rect">
            <a:avLst/>
          </a:prstGeom>
          <a:solidFill>
            <a:srgbClr val="0C111E"/>
          </a:solidFill>
          <a:ln w="19050">
            <a:solidFill>
              <a:srgbClr val="3D8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9885" y="36118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3D8EF8"/>
                </a:solidFill>
                <a:latin typeface="Inter"/>
              </a:rPr>
              <a:t>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445" y="4160520"/>
            <a:ext cx="4677431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>
                <a:solidFill>
                  <a:srgbClr val="EEF2FF"/>
                </a:solidFill>
                <a:latin typeface="Inter"/>
              </a:rPr>
              <a:t>AI models that work,
but explain nothing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1636" y="3474720"/>
            <a:ext cx="4860311" cy="1828800"/>
          </a:xfrm>
          <a:prstGeom prst="rect">
            <a:avLst/>
          </a:prstGeom>
          <a:solidFill>
            <a:srgbClr val="0C111E"/>
          </a:solidFill>
          <a:ln w="19050">
            <a:solidFill>
              <a:srgbClr val="E83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4516" y="36118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8394A"/>
                </a:solidFill>
                <a:latin typeface="Inter"/>
              </a:rPr>
              <a:t>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3076" y="4160520"/>
            <a:ext cx="4677431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>
                <a:solidFill>
                  <a:srgbClr val="EEF2FF"/>
                </a:solidFill>
                <a:latin typeface="Inter"/>
              </a:rPr>
              <a:t>Risk estimates that fail
the people who need them most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1672" y="653796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A6380"/>
                </a:solidFill>
                <a:latin typeface="Inter"/>
              </a:rPr>
              <a:t>5 /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005" y="658203"/>
            <a:ext cx="999494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800" b="1">
                <a:solidFill>
                  <a:srgbClr val="EEF2FF"/>
                </a:solidFill>
                <a:latin typeface="Inter"/>
              </a:rPr>
              <a:t>The Gap</a:t>
            </a:r>
          </a:p>
        </p:txBody>
      </p:sp>
      <p:sp>
        <p:nvSpPr>
          <p:cNvPr id="4" name="Rectangle 3"/>
          <p:cNvSpPr/>
          <p:nvPr/>
        </p:nvSpPr>
        <p:spPr>
          <a:xfrm>
            <a:off x="1106149" y="1709928"/>
            <a:ext cx="310896" cy="310896"/>
          </a:xfrm>
          <a:prstGeom prst="rect">
            <a:avLst/>
          </a:prstGeom>
          <a:solidFill>
            <a:srgbClr val="00C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91" b="1">
                <a:solidFill>
                  <a:srgbClr val="050810"/>
                </a:solidFill>
              </a:rP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365" y="1645920"/>
            <a:ext cx="940058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EEF2FF"/>
                </a:solidFill>
                <a:latin typeface="Inter"/>
              </a:rPr>
              <a:t>Built specifically for normal-weight patients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1106149" y="2505456"/>
            <a:ext cx="310896" cy="310896"/>
          </a:xfrm>
          <a:prstGeom prst="rect">
            <a:avLst/>
          </a:prstGeom>
          <a:solidFill>
            <a:srgbClr val="00C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91" b="1">
                <a:solidFill>
                  <a:srgbClr val="050810"/>
                </a:solidFill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365" y="2441448"/>
            <a:ext cx="940058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EEF2FF"/>
                </a:solidFill>
                <a:latin typeface="Inter"/>
              </a:rPr>
              <a:t>Risk scores tied to real medical tests</a:t>
            </a:r>
          </a:p>
        </p:txBody>
      </p:sp>
      <p:sp>
        <p:nvSpPr>
          <p:cNvPr id="8" name="Rectangle 7"/>
          <p:cNvSpPr/>
          <p:nvPr/>
        </p:nvSpPr>
        <p:spPr>
          <a:xfrm>
            <a:off x="1106149" y="3300984"/>
            <a:ext cx="310896" cy="310896"/>
          </a:xfrm>
          <a:prstGeom prst="rect">
            <a:avLst/>
          </a:prstGeom>
          <a:solidFill>
            <a:srgbClr val="00C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91" b="1">
                <a:solidFill>
                  <a:srgbClr val="050810"/>
                </a:solidFill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365" y="3236976"/>
            <a:ext cx="940058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EEF2FF"/>
                </a:solidFill>
                <a:latin typeface="Inter"/>
              </a:rPr>
              <a:t>Reliable confidence — even for the riskiest patients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06149" y="4096512"/>
            <a:ext cx="310896" cy="310896"/>
          </a:xfrm>
          <a:prstGeom prst="rect">
            <a:avLst/>
          </a:prstGeom>
          <a:solidFill>
            <a:srgbClr val="00C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91" b="1">
                <a:solidFill>
                  <a:srgbClr val="050810"/>
                </a:solidFill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365" y="4032504"/>
            <a:ext cx="940058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EEF2FF"/>
                </a:solidFill>
                <a:latin typeface="Inter"/>
              </a:rPr>
              <a:t>Plain explanations, not a black box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005" y="5212355"/>
            <a:ext cx="999494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8A84B"/>
                </a:solidFill>
                <a:latin typeface="Inter"/>
              </a:rPr>
              <a:t>No existing system does all four. This one does.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1672" y="653796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A6380"/>
                </a:solidFill>
                <a:latin typeface="Inter"/>
              </a:rPr>
              <a:t>6 /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005" y="658203"/>
            <a:ext cx="999494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800" b="1">
                <a:solidFill>
                  <a:srgbClr val="EEF2FF"/>
                </a:solidFill>
                <a:latin typeface="Inter"/>
              </a:rPr>
              <a:t>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9556" y="1828800"/>
            <a:ext cx="1737360" cy="2194560"/>
          </a:xfrm>
          <a:prstGeom prst="rect">
            <a:avLst/>
          </a:prstGeom>
          <a:solidFill>
            <a:srgbClr val="0C111E"/>
          </a:solidFill>
          <a:ln w="25400">
            <a:solidFill>
              <a:srgbClr val="00C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9556" y="205740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EEF2FF"/>
                </a:solidFill>
                <a:latin typeface="Inter"/>
              </a:rPr>
              <a:t>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" y="2743200"/>
            <a:ext cx="1554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>
                <a:solidFill>
                  <a:srgbClr val="EEF2FF"/>
                </a:solidFill>
                <a:latin typeface="Inter"/>
              </a:rPr>
              <a:t>Blood test
values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75204" y="2880360"/>
            <a:ext cx="347472" cy="91440"/>
          </a:xfrm>
          <a:prstGeom prst="rect">
            <a:avLst/>
          </a:prstGeom>
          <a:solidFill>
            <a:srgbClr val="1C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75204" y="2670048"/>
            <a:ext cx="3474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4A6380"/>
                </a:solidFill>
                <a:latin typeface="Inter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3122676" y="1828800"/>
            <a:ext cx="1737360" cy="2194560"/>
          </a:xfrm>
          <a:prstGeom prst="rect">
            <a:avLst/>
          </a:prstGeom>
          <a:solidFill>
            <a:srgbClr val="0C111E"/>
          </a:solidFill>
          <a:ln w="25400">
            <a:solidFill>
              <a:srgbClr val="3D8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22676" y="205740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EEF2FF"/>
                </a:solidFill>
                <a:latin typeface="Inter"/>
              </a:rPr>
              <a:t>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14116" y="2743200"/>
            <a:ext cx="1554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>
                <a:solidFill>
                  <a:srgbClr val="EEF2FF"/>
                </a:solidFill>
                <a:latin typeface="Inter"/>
              </a:rPr>
              <a:t>Pattern read
as a whole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78324" y="2880360"/>
            <a:ext cx="347472" cy="91440"/>
          </a:xfrm>
          <a:prstGeom prst="rect">
            <a:avLst/>
          </a:prstGeom>
          <a:solidFill>
            <a:srgbClr val="1C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78324" y="2670048"/>
            <a:ext cx="3474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4A6380"/>
                </a:solidFill>
                <a:latin typeface="Inter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25796" y="1828800"/>
            <a:ext cx="1737360" cy="2194560"/>
          </a:xfrm>
          <a:prstGeom prst="rect">
            <a:avLst/>
          </a:prstGeom>
          <a:solidFill>
            <a:srgbClr val="0C111E"/>
          </a:solidFill>
          <a:ln w="254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25796" y="205740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EEF2FF"/>
                </a:solidFill>
                <a:latin typeface="Inter"/>
              </a:rPr>
              <a:t>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17236" y="2743200"/>
            <a:ext cx="1554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>
                <a:solidFill>
                  <a:srgbClr val="EEF2FF"/>
                </a:solidFill>
                <a:latin typeface="Inter"/>
              </a:rPr>
              <a:t>Two risk
scores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81444" y="2880360"/>
            <a:ext cx="347472" cy="91440"/>
          </a:xfrm>
          <a:prstGeom prst="rect">
            <a:avLst/>
          </a:prstGeom>
          <a:solidFill>
            <a:srgbClr val="1C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81444" y="2670048"/>
            <a:ext cx="3474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4A6380"/>
                </a:solidFill>
                <a:latin typeface="Inter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28916" y="1828800"/>
            <a:ext cx="1737360" cy="2194560"/>
          </a:xfrm>
          <a:prstGeom prst="rect">
            <a:avLst/>
          </a:prstGeom>
          <a:solidFill>
            <a:srgbClr val="0C111E"/>
          </a:solidFill>
          <a:ln w="25400">
            <a:solidFill>
              <a:srgbClr val="E83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28916" y="205740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EEF2FF"/>
                </a:solidFill>
                <a:latin typeface="Inter"/>
              </a:rPr>
              <a:t>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20356" y="2743200"/>
            <a:ext cx="1554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>
                <a:solidFill>
                  <a:srgbClr val="EEF2FF"/>
                </a:solidFill>
                <a:latin typeface="Inter"/>
              </a:rPr>
              <a:t>Patient placed
on a map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84564" y="2880360"/>
            <a:ext cx="347472" cy="91440"/>
          </a:xfrm>
          <a:prstGeom prst="rect">
            <a:avLst/>
          </a:prstGeom>
          <a:solidFill>
            <a:srgbClr val="1C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84564" y="2670048"/>
            <a:ext cx="3474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4A6380"/>
                </a:solidFill>
                <a:latin typeface="Inter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32036" y="1828800"/>
            <a:ext cx="1737360" cy="2194560"/>
          </a:xfrm>
          <a:prstGeom prst="rect">
            <a:avLst/>
          </a:prstGeom>
          <a:solidFill>
            <a:srgbClr val="0C111E"/>
          </a:solidFill>
          <a:ln w="25400">
            <a:solidFill>
              <a:srgbClr val="00C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32036" y="205740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EEF2FF"/>
                </a:solidFill>
                <a:latin typeface="Inter"/>
              </a:rPr>
              <a:t>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23476" y="2743200"/>
            <a:ext cx="1554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>
                <a:solidFill>
                  <a:srgbClr val="EEF2FF"/>
                </a:solidFill>
                <a:latin typeface="Inter"/>
              </a:rPr>
              <a:t>Confidence +
next steps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1672" y="653796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A6380"/>
                </a:solidFill>
                <a:latin typeface="Inter"/>
              </a:rPr>
              <a:t>7 /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005" y="658203"/>
            <a:ext cx="999494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800" b="1">
                <a:solidFill>
                  <a:srgbClr val="EEF2FF"/>
                </a:solidFill>
                <a:latin typeface="Inter"/>
              </a:rPr>
              <a:t>The 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4265676" y="1417320"/>
            <a:ext cx="3657600" cy="3657600"/>
          </a:xfrm>
          <a:prstGeom prst="rect">
            <a:avLst/>
          </a:prstGeom>
          <a:solidFill>
            <a:srgbClr val="0C111E"/>
          </a:solidFill>
          <a:ln w="25400">
            <a:solidFill>
              <a:srgbClr val="1C2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265676" y="1417320"/>
            <a:ext cx="1828800" cy="1828800"/>
          </a:xfrm>
          <a:prstGeom prst="rect">
            <a:avLst/>
          </a:prstGeom>
          <a:solidFill>
            <a:srgbClr val="3D8EF8">
              <a:alpha val="20000"/>
            </a:srgbClr>
          </a:solidFill>
          <a:ln w="6350">
            <a:solidFill>
              <a:srgbClr val="1C2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57116" y="1508760"/>
            <a:ext cx="1645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D8EF8"/>
                </a:solidFill>
                <a:latin typeface="Inter"/>
              </a:rPr>
              <a:t>Liver
Risk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4476" y="1417320"/>
            <a:ext cx="1828800" cy="1828800"/>
          </a:xfrm>
          <a:prstGeom prst="rect">
            <a:avLst/>
          </a:prstGeom>
          <a:solidFill>
            <a:srgbClr val="E8394A">
              <a:alpha val="20000"/>
            </a:srgbClr>
          </a:solidFill>
          <a:ln w="6350">
            <a:solidFill>
              <a:srgbClr val="1C2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85916" y="1508760"/>
            <a:ext cx="1645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8394A"/>
                </a:solidFill>
                <a:latin typeface="Inter"/>
              </a:rPr>
              <a:t>Dual
Burden</a:t>
            </a:r>
          </a:p>
        </p:txBody>
      </p:sp>
      <p:sp>
        <p:nvSpPr>
          <p:cNvPr id="9" name="Rectangle 8"/>
          <p:cNvSpPr/>
          <p:nvPr/>
        </p:nvSpPr>
        <p:spPr>
          <a:xfrm>
            <a:off x="4265676" y="3246120"/>
            <a:ext cx="1828800" cy="1828800"/>
          </a:xfrm>
          <a:prstGeom prst="rect">
            <a:avLst/>
          </a:prstGeom>
          <a:solidFill>
            <a:srgbClr val="00C47D">
              <a:alpha val="20000"/>
            </a:srgbClr>
          </a:solidFill>
          <a:ln w="6350">
            <a:solidFill>
              <a:srgbClr val="1C2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57116" y="3337560"/>
            <a:ext cx="1645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C47D"/>
                </a:solidFill>
                <a:latin typeface="Inter"/>
              </a:rPr>
              <a:t>Healthy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4476" y="3246120"/>
            <a:ext cx="1828800" cy="1828800"/>
          </a:xfrm>
          <a:prstGeom prst="rect">
            <a:avLst/>
          </a:prstGeom>
          <a:solidFill>
            <a:srgbClr val="F5A623">
              <a:alpha val="20000"/>
            </a:srgbClr>
          </a:solidFill>
          <a:ln w="6350">
            <a:solidFill>
              <a:srgbClr val="1C2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85916" y="3337560"/>
            <a:ext cx="1645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5A623"/>
                </a:solidFill>
                <a:latin typeface="Inter"/>
              </a:rPr>
              <a:t>IR
Risk</a:t>
            </a:r>
          </a:p>
        </p:txBody>
      </p:sp>
      <p:sp>
        <p:nvSpPr>
          <p:cNvPr id="13" name="Oval 12"/>
          <p:cNvSpPr/>
          <p:nvPr/>
        </p:nvSpPr>
        <p:spPr>
          <a:xfrm>
            <a:off x="6816852" y="2212848"/>
            <a:ext cx="384048" cy="384048"/>
          </a:xfrm>
          <a:prstGeom prst="ellipse">
            <a:avLst/>
          </a:prstGeom>
          <a:solidFill>
            <a:srgbClr val="E8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 rot="33929200">
            <a:off x="6924386" y="2500884"/>
            <a:ext cx="168981" cy="211226"/>
          </a:xfrm>
          <a:prstGeom prst="roundRect">
            <a:avLst/>
          </a:prstGeom>
          <a:solidFill>
            <a:srgbClr val="E8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005" y="5257800"/>
            <a:ext cx="999494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4A6380"/>
                </a:solidFill>
                <a:latin typeface="Inter"/>
              </a:rPr>
              <a:t>Every patient gets a location. Location reveals hidden risk.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1672" y="653796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A6380"/>
                </a:solidFill>
                <a:latin typeface="Inter"/>
              </a:rPr>
              <a:t>8 /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005" y="658203"/>
            <a:ext cx="999494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800" b="1">
                <a:solidFill>
                  <a:srgbClr val="EEF2FF"/>
                </a:solidFill>
                <a:latin typeface="Inter"/>
              </a:rPr>
              <a:t>Scale of 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2711196" y="1554480"/>
            <a:ext cx="6766560" cy="2651760"/>
          </a:xfrm>
          <a:prstGeom prst="rect">
            <a:avLst/>
          </a:prstGeom>
          <a:solidFill>
            <a:srgbClr val="0C111E"/>
          </a:solidFill>
          <a:ln w="254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894076" y="1737360"/>
            <a:ext cx="6400800" cy="2286000"/>
          </a:xfrm>
          <a:prstGeom prst="rect">
            <a:avLst/>
          </a:prstGeom>
          <a:solidFill>
            <a:srgbClr val="0C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94076" y="1874520"/>
            <a:ext cx="64008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800" b="1">
                <a:solidFill>
                  <a:srgbClr val="F5A623"/>
                </a:solidFill>
                <a:latin typeface="JetBrains Mono"/>
              </a:rPr>
              <a:t>[PREVALENCE ESTIMATE]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94076" y="342900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4A6380"/>
                </a:solidFill>
                <a:latin typeface="Inter"/>
              </a:rPr>
              <a:t>(range reflects sample size — see full report for detail)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1672" y="653796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A6380"/>
                </a:solidFill>
                <a:latin typeface="Inter"/>
              </a:rPr>
              <a:t>9 /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005" y="2377440"/>
            <a:ext cx="999494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200" b="1">
                <a:solidFill>
                  <a:srgbClr val="EEF2FF"/>
                </a:solidFill>
                <a:latin typeface="Inter"/>
              </a:rPr>
              <a:t>Live demonstration</a:t>
            </a:r>
          </a:p>
        </p:txBody>
      </p:sp>
      <p:sp>
        <p:nvSpPr>
          <p:cNvPr id="4" name="Oval 3"/>
          <p:cNvSpPr/>
          <p:nvPr/>
        </p:nvSpPr>
        <p:spPr>
          <a:xfrm>
            <a:off x="5843016" y="4869180"/>
            <a:ext cx="502920" cy="502920"/>
          </a:xfrm>
          <a:prstGeom prst="ellipse">
            <a:avLst/>
          </a:prstGeom>
          <a:solidFill>
            <a:srgbClr val="00C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 rot="33929200">
            <a:off x="5983834" y="5246370"/>
            <a:ext cx="221284" cy="276606"/>
          </a:xfrm>
          <a:prstGeom prst="roundRect">
            <a:avLst/>
          </a:prstGeom>
          <a:solidFill>
            <a:srgbClr val="00C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1672" y="653796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A6380"/>
                </a:solidFill>
                <a:latin typeface="Inter"/>
              </a:rPr>
              <a:t>10 /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005" y="658203"/>
            <a:ext cx="999494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800" b="1">
                <a:solidFill>
                  <a:srgbClr val="EEF2FF"/>
                </a:solidFill>
                <a:latin typeface="Inter"/>
              </a:rPr>
              <a:t>Putting It to the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005" y="1472184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700" b="1" i="0">
                <a:solidFill>
                  <a:srgbClr val="EEF2FF"/>
                </a:solidFill>
                <a:latin typeface="Inter"/>
              </a:rPr>
              <a:t>LMSIS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2395453" y="1417320"/>
            <a:ext cx="6656812" cy="475488"/>
          </a:xfrm>
          <a:prstGeom prst="rect">
            <a:avLst/>
          </a:prstGeom>
          <a:solidFill>
            <a:srgbClr val="00C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25417" y="1490472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47D"/>
                </a:solidFill>
                <a:latin typeface="JetBrains Mono"/>
              </a:rPr>
              <a:t>+0.542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005" y="2148840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700" b="0" i="0">
                <a:solidFill>
                  <a:srgbClr val="4A6380"/>
                </a:solidFill>
                <a:latin typeface="Inter"/>
              </a:rPr>
              <a:t>Random Forest</a:t>
            </a:r>
          </a:p>
        </p:txBody>
      </p:sp>
      <p:sp>
        <p:nvSpPr>
          <p:cNvPr id="8" name="Rectangle 7"/>
          <p:cNvSpPr/>
          <p:nvPr/>
        </p:nvSpPr>
        <p:spPr>
          <a:xfrm>
            <a:off x="2395453" y="2093976"/>
            <a:ext cx="7320037" cy="475488"/>
          </a:xfrm>
          <a:prstGeom prst="rect">
            <a:avLst/>
          </a:prstGeom>
          <a:solidFill>
            <a:srgbClr val="4A6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8642" y="2167128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A6380"/>
                </a:solidFill>
                <a:latin typeface="JetBrains Mono"/>
              </a:rPr>
              <a:t>+0.596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005" y="2825496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700" b="0" i="0">
                <a:solidFill>
                  <a:srgbClr val="4A6380"/>
                </a:solidFill>
                <a:latin typeface="Inter"/>
              </a:rPr>
              <a:t>XGBoost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95453" y="2770632"/>
            <a:ext cx="7135808" cy="475488"/>
          </a:xfrm>
          <a:prstGeom prst="rect">
            <a:avLst/>
          </a:prstGeom>
          <a:solidFill>
            <a:srgbClr val="4A6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4413" y="2843784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A6380"/>
                </a:solidFill>
                <a:latin typeface="JetBrains Mono"/>
              </a:rPr>
              <a:t>+0.581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005" y="3502152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700" b="0" i="0">
                <a:solidFill>
                  <a:srgbClr val="4A6380"/>
                </a:solidFill>
                <a:latin typeface="Inter"/>
              </a:rPr>
              <a:t>FLI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95453" y="3447288"/>
            <a:ext cx="4900494" cy="475488"/>
          </a:xfrm>
          <a:prstGeom prst="rect">
            <a:avLst/>
          </a:prstGeom>
          <a:solidFill>
            <a:srgbClr val="4A6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69099" y="3520440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A6380"/>
                </a:solidFill>
                <a:latin typeface="JetBrains Mono"/>
              </a:rPr>
              <a:t>+0.399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005" y="4178808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700" b="0" i="0">
                <a:solidFill>
                  <a:srgbClr val="4A6380"/>
                </a:solidFill>
                <a:latin typeface="Inter"/>
              </a:rPr>
              <a:t>NAFLD-LFS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46183" y="4123944"/>
            <a:ext cx="1449269" cy="475488"/>
          </a:xfrm>
          <a:prstGeom prst="rect">
            <a:avLst/>
          </a:prstGeom>
          <a:solidFill>
            <a:srgbClr val="E8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7815" y="4197096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394A"/>
                </a:solidFill>
                <a:latin typeface="JetBrains Mono"/>
              </a:rPr>
              <a:t>-0.118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82753" y="1325880"/>
            <a:ext cx="25400" cy="3383280"/>
          </a:xfrm>
          <a:prstGeom prst="rect">
            <a:avLst/>
          </a:prstGeom>
          <a:solidFill>
            <a:srgbClr val="1C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005" y="4937760"/>
            <a:ext cx="999494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E8394A"/>
                </a:solidFill>
                <a:latin typeface="Inter"/>
              </a:rPr>
              <a:t>One widely used method ranks sick patients as healthier.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1672" y="653796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A6380"/>
                </a:solidFill>
                <a:latin typeface="Inter"/>
              </a:rPr>
              <a:t>11 /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005" y="658203"/>
            <a:ext cx="999494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800" b="1">
                <a:solidFill>
                  <a:srgbClr val="EEF2FF"/>
                </a:solidFill>
                <a:latin typeface="Inter"/>
              </a:rPr>
              <a:t>Reliable for the Riskiest Patients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11196" y="1900488"/>
            <a:ext cx="2194560" cy="1939991"/>
          </a:xfrm>
          <a:prstGeom prst="rect">
            <a:avLst/>
          </a:prstGeom>
          <a:solidFill>
            <a:srgbClr val="4A6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28316" y="1397568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4A6380"/>
                </a:solidFill>
                <a:latin typeface="JetBrains Mono"/>
              </a:rPr>
              <a:t>81.6%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62556" y="393192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4A6380"/>
                </a:solidFill>
                <a:latin typeface="Inter"/>
              </a:rPr>
              <a:t>Before</a:t>
            </a:r>
          </a:p>
        </p:txBody>
      </p:sp>
      <p:sp>
        <p:nvSpPr>
          <p:cNvPr id="7" name="Rectangle 6"/>
          <p:cNvSpPr/>
          <p:nvPr/>
        </p:nvSpPr>
        <p:spPr>
          <a:xfrm>
            <a:off x="7283196" y="1691274"/>
            <a:ext cx="2194560" cy="2149205"/>
          </a:xfrm>
          <a:prstGeom prst="rect">
            <a:avLst/>
          </a:prstGeom>
          <a:solidFill>
            <a:srgbClr val="00C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00316" y="1188354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C47D"/>
                </a:solidFill>
                <a:latin typeface="JetBrains Mono"/>
              </a:rPr>
              <a:t>90.4%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34556" y="393192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EEF2FF"/>
                </a:solidFill>
                <a:latin typeface="Inter"/>
              </a:rPr>
              <a:t>After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005" y="4434840"/>
            <a:ext cx="999494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4A6380"/>
                </a:solidFill>
                <a:latin typeface="Inter"/>
              </a:rPr>
              <a:t>Standard methods miss the riskiest patients. This fixes that.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1672" y="653796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A6380"/>
                </a:solidFill>
                <a:latin typeface="Inter"/>
              </a:rPr>
              <a:t>12 /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005" y="658203"/>
            <a:ext cx="999494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800" b="1">
                <a:solidFill>
                  <a:srgbClr val="EEF2FF"/>
                </a:solidFill>
                <a:latin typeface="Inter"/>
              </a:rPr>
              <a:t>Proven Beyond the Training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005" y="1737360"/>
            <a:ext cx="4768871" cy="2743200"/>
          </a:xfrm>
          <a:prstGeom prst="rect">
            <a:avLst/>
          </a:prstGeom>
          <a:solidFill>
            <a:srgbClr val="0C111E"/>
          </a:solidFill>
          <a:ln w="25400">
            <a:solidFill>
              <a:srgbClr val="00C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79885" y="19202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EEF2FF"/>
                </a:solidFill>
                <a:latin typeface="Inter"/>
              </a:rPr>
              <a:t>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79885" y="2606040"/>
            <a:ext cx="4403111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>
                <a:solidFill>
                  <a:srgbClr val="4A6380"/>
                </a:solidFill>
                <a:latin typeface="Inter"/>
              </a:rPr>
              <a:t>Tested two years later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79885" y="3520440"/>
            <a:ext cx="4403111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C47D"/>
                </a:solidFill>
                <a:latin typeface="JetBrains Mono"/>
              </a:rPr>
              <a:t>[RESULT]</a:t>
            </a:r>
          </a:p>
        </p:txBody>
      </p:sp>
      <p:sp>
        <p:nvSpPr>
          <p:cNvPr id="8" name="Rectangle 7"/>
          <p:cNvSpPr/>
          <p:nvPr/>
        </p:nvSpPr>
        <p:spPr>
          <a:xfrm>
            <a:off x="6323076" y="1737360"/>
            <a:ext cx="4768871" cy="2743200"/>
          </a:xfrm>
          <a:prstGeom prst="rect">
            <a:avLst/>
          </a:prstGeom>
          <a:solidFill>
            <a:srgbClr val="0C111E"/>
          </a:solidFill>
          <a:ln w="25400">
            <a:solidFill>
              <a:srgbClr val="3D8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05956" y="19202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EEF2FF"/>
                </a:solidFill>
                <a:latin typeface="Inter"/>
              </a:rPr>
              <a:t>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05956" y="2606040"/>
            <a:ext cx="4403111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>
                <a:solidFill>
                  <a:srgbClr val="4A6380"/>
                </a:solidFill>
                <a:latin typeface="Inter"/>
              </a:rPr>
              <a:t>Tested on a different population group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5956" y="3520440"/>
            <a:ext cx="4403111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3D8EF8"/>
                </a:solidFill>
                <a:latin typeface="JetBrains Mono"/>
              </a:rPr>
              <a:t>[RESULT]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1672" y="653796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A6380"/>
                </a:solidFill>
                <a:latin typeface="Inter"/>
              </a:rPr>
              <a:t>13 /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005" y="658203"/>
            <a:ext cx="999494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800" b="1">
                <a:solidFill>
                  <a:srgbClr val="EEF2FF"/>
                </a:solidFill>
                <a:latin typeface="Inter"/>
              </a:rPr>
              <a:t>What We Built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005" y="1508760"/>
            <a:ext cx="9994942" cy="777240"/>
          </a:xfrm>
          <a:prstGeom prst="rect">
            <a:avLst/>
          </a:prstGeom>
          <a:solidFill>
            <a:srgbClr val="0C111E"/>
          </a:solidFill>
          <a:ln w="19050">
            <a:solidFill>
              <a:srgbClr val="00C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165" y="1600200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00C47D"/>
                </a:solidFill>
                <a:latin typeface="Inter"/>
              </a:rPr>
              <a:t>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19965" y="1645920"/>
            <a:ext cx="898910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EEF2FF"/>
                </a:solidFill>
                <a:latin typeface="Inter"/>
              </a:rPr>
              <a:t>Risk scores anchored to real medical tests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005" y="2468880"/>
            <a:ext cx="9994942" cy="777240"/>
          </a:xfrm>
          <a:prstGeom prst="rect">
            <a:avLst/>
          </a:prstGeom>
          <a:solidFill>
            <a:srgbClr val="0C111E"/>
          </a:solidFill>
          <a:ln w="19050">
            <a:solidFill>
              <a:srgbClr val="3D8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165" y="2560320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3D8EF8"/>
                </a:solidFill>
                <a:latin typeface="Inter"/>
              </a:rPr>
              <a:t>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19965" y="2606040"/>
            <a:ext cx="898910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EEF2FF"/>
                </a:solidFill>
                <a:latin typeface="Inter"/>
              </a:rPr>
              <a:t>Reliable confidence ranges for the riskiest patients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005" y="3429000"/>
            <a:ext cx="9994942" cy="777240"/>
          </a:xfrm>
          <a:prstGeom prst="rect">
            <a:avLst/>
          </a:prstGeom>
          <a:solidFill>
            <a:srgbClr val="0C111E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165" y="3520440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5A623"/>
                </a:solidFill>
                <a:latin typeface="Inter"/>
              </a:rPr>
              <a:t>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19965" y="3566160"/>
            <a:ext cx="898910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EEF2FF"/>
                </a:solidFill>
                <a:latin typeface="Inter"/>
              </a:rPr>
              <a:t>Plain explanations of how the model behaves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005" y="4389120"/>
            <a:ext cx="9994942" cy="777240"/>
          </a:xfrm>
          <a:prstGeom prst="rect">
            <a:avLst/>
          </a:prstGeom>
          <a:solidFill>
            <a:srgbClr val="0C111E"/>
          </a:solidFill>
          <a:ln w="19050">
            <a:solidFill>
              <a:srgbClr val="00C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165" y="4480560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00C47D"/>
                </a:solidFill>
                <a:latin typeface="Inter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19965" y="4526280"/>
            <a:ext cx="898910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EEF2FF"/>
                </a:solidFill>
                <a:latin typeface="Inter"/>
              </a:rPr>
              <a:t>A complete, tested, working system</a:t>
            </a:r>
          </a:p>
        </p:txBody>
      </p:sp>
      <p:sp>
        <p:nvSpPr>
          <p:cNvPr id="16" name="Oval 15"/>
          <p:cNvSpPr/>
          <p:nvPr/>
        </p:nvSpPr>
        <p:spPr>
          <a:xfrm>
            <a:off x="11128248" y="6254496"/>
            <a:ext cx="292608" cy="292608"/>
          </a:xfrm>
          <a:prstGeom prst="ellipse">
            <a:avLst/>
          </a:prstGeom>
          <a:solidFill>
            <a:srgbClr val="00C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 rot="33929200">
            <a:off x="11210179" y="6473952"/>
            <a:ext cx="128747" cy="160934"/>
          </a:xfrm>
          <a:prstGeom prst="roundRect">
            <a:avLst/>
          </a:prstGeom>
          <a:solidFill>
            <a:srgbClr val="00C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1672" y="653796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A6380"/>
                </a:solidFill>
                <a:latin typeface="Inter"/>
              </a:rPr>
              <a:t>14 /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005" y="658203"/>
            <a:ext cx="999494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800" b="1">
                <a:solidFill>
                  <a:srgbClr val="EEF2FF"/>
                </a:solidFill>
                <a:latin typeface="Inter"/>
              </a:rPr>
              <a:t>Honest About the Limits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005" y="3657600"/>
            <a:ext cx="9994942" cy="19050"/>
          </a:xfrm>
          <a:prstGeom prst="rect">
            <a:avLst/>
          </a:prstGeom>
          <a:solidFill>
            <a:srgbClr val="1C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005" y="1325880"/>
            <a:ext cx="999494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5A623"/>
                </a:solidFill>
                <a:latin typeface="Inter"/>
              </a:rPr>
              <a:t>What we don’t yet know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325" y="1828800"/>
            <a:ext cx="972062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0" i="0">
                <a:solidFill>
                  <a:srgbClr val="4A6380"/>
                </a:solidFill>
                <a:latin typeface="Inter"/>
              </a:rPr>
              <a:t>• Built from a single national data 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325" y="2395728"/>
            <a:ext cx="972062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0" i="0">
                <a:solidFill>
                  <a:srgbClr val="4A6380"/>
                </a:solidFill>
                <a:latin typeface="Inter"/>
              </a:rPr>
              <a:t>• A one-time snapshot, not tracked over 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325" y="2962656"/>
            <a:ext cx="972062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0" i="0">
                <a:solidFill>
                  <a:srgbClr val="4A6380"/>
                </a:solidFill>
                <a:latin typeface="Inter"/>
              </a:rPr>
              <a:t>• Not a diagnostic device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005" y="3794760"/>
            <a:ext cx="999494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C47D"/>
                </a:solidFill>
                <a:latin typeface="Inter"/>
              </a:rPr>
              <a:t>What’s next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325" y="4297680"/>
            <a:ext cx="972062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0" i="0">
                <a:solidFill>
                  <a:srgbClr val="EEF2FF"/>
                </a:solidFill>
                <a:latin typeface="Inter"/>
              </a:rPr>
              <a:t>• Test on completely independent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325" y="4864608"/>
            <a:ext cx="972062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0" i="0">
                <a:solidFill>
                  <a:srgbClr val="EEF2FF"/>
                </a:solidFill>
                <a:latin typeface="Inter"/>
              </a:rPr>
              <a:t>• Track real patients over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325" y="5431536"/>
            <a:ext cx="972062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0" i="0">
                <a:solidFill>
                  <a:srgbClr val="EEF2FF"/>
                </a:solidFill>
                <a:latin typeface="Inter"/>
              </a:rPr>
              <a:t>• Expand to more population groups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005" y="548640"/>
            <a:ext cx="9994942" cy="31750"/>
          </a:xfrm>
          <a:prstGeom prst="rect">
            <a:avLst/>
          </a:prstGeom>
          <a:solidFill>
            <a:srgbClr val="00C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005" y="1005840"/>
            <a:ext cx="9994942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800" b="1">
                <a:solidFill>
                  <a:srgbClr val="EEF2FF"/>
                </a:solidFill>
                <a:latin typeface="Inter"/>
              </a:rPr>
              <a:t>Normal BMI is not metabolic health.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005" y="2103120"/>
            <a:ext cx="999494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0">
                <a:solidFill>
                  <a:srgbClr val="4A6380"/>
                </a:solidFill>
                <a:latin typeface="Inter"/>
              </a:rPr>
              <a:t>We can show you where the patient actually is — and the route back.</a:t>
            </a:r>
          </a:p>
        </p:txBody>
      </p:sp>
      <p:sp>
        <p:nvSpPr>
          <p:cNvPr id="5" name="Rectangle 4"/>
          <p:cNvSpPr/>
          <p:nvPr/>
        </p:nvSpPr>
        <p:spPr>
          <a:xfrm>
            <a:off x="2253996" y="4114800"/>
            <a:ext cx="2377440" cy="502920"/>
          </a:xfrm>
          <a:prstGeom prst="rect">
            <a:avLst/>
          </a:prstGeom>
          <a:solidFill>
            <a:srgbClr val="0C111E"/>
          </a:solidFill>
          <a:ln w="19050">
            <a:solidFill>
              <a:srgbClr val="00C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53996" y="414223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0C47D"/>
                </a:solidFill>
                <a:latin typeface="Inter"/>
              </a:rPr>
              <a:t>⚙ Tested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4905756" y="4114800"/>
            <a:ext cx="2377440" cy="502920"/>
          </a:xfrm>
          <a:prstGeom prst="rect">
            <a:avLst/>
          </a:prstGeom>
          <a:solidFill>
            <a:srgbClr val="0C111E"/>
          </a:solidFill>
          <a:ln w="19050">
            <a:solidFill>
              <a:srgbClr val="3D8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05756" y="414223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3D8EF8"/>
                </a:solidFill>
                <a:latin typeface="Inter"/>
              </a:rPr>
              <a:t>♻ Reproducible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557516" y="4114800"/>
            <a:ext cx="2377440" cy="502920"/>
          </a:xfrm>
          <a:prstGeom prst="rect">
            <a:avLst/>
          </a:prstGeom>
          <a:solidFill>
            <a:srgbClr val="0C111E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7516" y="414223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5A623"/>
                </a:solidFill>
                <a:latin typeface="Inter"/>
              </a:rPr>
              <a:t>⬡ Open 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005" y="5029200"/>
            <a:ext cx="999494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EEF2FF"/>
                </a:solidFill>
                <a:latin typeface="Inter"/>
              </a:rPr>
              <a:t>Thank you. Questions?</a:t>
            </a:r>
          </a:p>
        </p:txBody>
      </p:sp>
      <p:sp>
        <p:nvSpPr>
          <p:cNvPr id="12" name="Oval 11"/>
          <p:cNvSpPr/>
          <p:nvPr/>
        </p:nvSpPr>
        <p:spPr>
          <a:xfrm>
            <a:off x="832104" y="6044184"/>
            <a:ext cx="347472" cy="347472"/>
          </a:xfrm>
          <a:prstGeom prst="ellipse">
            <a:avLst/>
          </a:prstGeom>
          <a:solidFill>
            <a:srgbClr val="E8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 rot="33929200">
            <a:off x="929397" y="6304788"/>
            <a:ext cx="152887" cy="191109"/>
          </a:xfrm>
          <a:prstGeom prst="roundRect">
            <a:avLst/>
          </a:prstGeom>
          <a:solidFill>
            <a:srgbClr val="E8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